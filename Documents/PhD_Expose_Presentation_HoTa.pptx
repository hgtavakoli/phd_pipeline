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4" r:id="rId9"/>
    <p:sldId id="271" r:id="rId10"/>
    <p:sldId id="268" r:id="rId11"/>
    <p:sldId id="269" r:id="rId12"/>
    <p:sldId id="27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9" d="100"/>
          <a:sy n="79" d="100"/>
        </p:scale>
        <p:origin x="1570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DE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C929A9D-2818-49B6-BC51-5239EB58C708}" type="datetimeFigureOut">
              <a:rPr lang="en-DE" smtClean="0"/>
              <a:t>07/10/2025</a:t>
            </a:fld>
            <a:endParaRPr lang="en-DE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DE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13C5036-96FB-4A2B-ABD9-1CA4204748BB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336988098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jpe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2400"/>
              <a:t>A Sustainable and Flexible Pipeline for Industrial Object Detection via Active Learning and AAS-Integrated synthetic data generation Hyperparameters</a:t>
            </a:r>
            <a:endParaRPr sz="24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1"/>
            <a:ext cx="8229600" cy="1644650"/>
          </a:xfrm>
        </p:spPr>
        <p:txBody>
          <a:bodyPr/>
          <a:lstStyle/>
          <a:p>
            <a:r>
              <a:rPr sz="1600" dirty="0"/>
              <a:t>Leveraging Synthetic Data Generated Relying on AAS Metadata for Domain Randomization</a:t>
            </a:r>
          </a:p>
          <a:p>
            <a:pPr marL="0" indent="0">
              <a:buNone/>
            </a:pPr>
            <a:endParaRPr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E7AC56F-9511-C745-0106-406CF4CB8471}"/>
              </a:ext>
            </a:extLst>
          </p:cNvPr>
          <p:cNvSpPr txBox="1"/>
          <p:nvPr/>
        </p:nvSpPr>
        <p:spPr>
          <a:xfrm>
            <a:off x="711200" y="3352800"/>
            <a:ext cx="77216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Hooman Tavakoli</a:t>
            </a:r>
          </a:p>
          <a:p>
            <a:pPr algn="ctr"/>
            <a:r>
              <a:rPr lang="en-US" dirty="0"/>
              <a:t>DFKI</a:t>
            </a:r>
          </a:p>
          <a:p>
            <a:pPr algn="ctr"/>
            <a:r>
              <a:rPr lang="en-US" dirty="0"/>
              <a:t>October 8, 2025</a:t>
            </a:r>
          </a:p>
          <a:p>
            <a:pPr algn="ctr"/>
            <a:endParaRPr lang="en-DE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Motivation / Background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6203950" cy="3467099"/>
          </a:xfrm>
        </p:spPr>
        <p:txBody>
          <a:bodyPr>
            <a:normAutofit/>
          </a:bodyPr>
          <a:lstStyle/>
          <a:p>
            <a:r>
              <a:rPr sz="1800" dirty="0"/>
              <a:t>Object Detection (OD) is crucial for AR/VR, robotics, and industrial automation.</a:t>
            </a:r>
            <a:endParaRPr lang="en-US" sz="1800" dirty="0"/>
          </a:p>
          <a:p>
            <a:r>
              <a:rPr sz="1800" dirty="0"/>
              <a:t>Large, labeled datasets are costly and energy-intensive.</a:t>
            </a:r>
            <a:endParaRPr lang="en-US" sz="1800" dirty="0"/>
          </a:p>
          <a:p>
            <a:r>
              <a:rPr sz="1800" dirty="0"/>
              <a:t>Training large OD architectures i</a:t>
            </a:r>
            <a:r>
              <a:rPr lang="en-US" sz="1800" dirty="0"/>
              <a:t>s unsustainable</a:t>
            </a:r>
            <a:r>
              <a:rPr sz="1800" dirty="0"/>
              <a:t>.</a:t>
            </a:r>
            <a:endParaRPr lang="en-US" sz="1800" dirty="0"/>
          </a:p>
          <a:p>
            <a:r>
              <a:rPr sz="1800" dirty="0"/>
              <a:t>Synthetic data offers a sustainable, controllable solution.</a:t>
            </a:r>
          </a:p>
        </p:txBody>
      </p:sp>
      <p:pic>
        <p:nvPicPr>
          <p:cNvPr id="1026" name="Picture 2" descr="A group of toys on a gray background&#10;&#10;Description automatically generated">
            <a:extLst>
              <a:ext uri="{FF2B5EF4-FFF2-40B4-BE49-F238E27FC236}">
                <a16:creationId xmlns:a16="http://schemas.microsoft.com/office/drawing/2014/main" id="{577EC3DA-D3B7-A624-D8E6-8CB0C9A1450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85708" y="4698267"/>
            <a:ext cx="2125266" cy="15169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7" name="Picture 3" descr="A computer generated image of a machine&#10;&#10;Description automatically generated">
            <a:extLst>
              <a:ext uri="{FF2B5EF4-FFF2-40B4-BE49-F238E27FC236}">
                <a16:creationId xmlns:a16="http://schemas.microsoft.com/office/drawing/2014/main" id="{78ABEF9A-B0A7-1443-6BD8-C3A178E13A4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85708" y="3022600"/>
            <a:ext cx="2125266" cy="1600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A close-up of a tool&#10;&#10;Description automatically generated">
            <a:extLst>
              <a:ext uri="{FF2B5EF4-FFF2-40B4-BE49-F238E27FC236}">
                <a16:creationId xmlns:a16="http://schemas.microsoft.com/office/drawing/2014/main" id="{5B6A55C0-BBA0-7E12-17C4-E0DE3A799AF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85708" y="1358901"/>
            <a:ext cx="2125266" cy="1600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Challenges: Real Dataset Acquisition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6108700" cy="4525963"/>
          </a:xfrm>
        </p:spPr>
        <p:txBody>
          <a:bodyPr>
            <a:normAutofit/>
          </a:bodyPr>
          <a:lstStyle/>
          <a:p>
            <a:r>
              <a:rPr sz="1800" dirty="0"/>
              <a:t>Labeling is time-consuming and costly.</a:t>
            </a:r>
          </a:p>
          <a:p>
            <a:r>
              <a:rPr sz="1800" dirty="0"/>
              <a:t>Scenario diversity is limited in real-world datasets.</a:t>
            </a:r>
          </a:p>
          <a:p>
            <a:r>
              <a:rPr sz="1800" dirty="0"/>
              <a:t>Bias across classes can distort model generalization.</a:t>
            </a:r>
          </a:p>
          <a:p>
            <a:r>
              <a:rPr sz="1800" dirty="0"/>
              <a:t>Requires expert domain knowledge for accurate annotation.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Challenges: Synthetic Datasets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572500" cy="4525963"/>
          </a:xfrm>
        </p:spPr>
        <p:txBody>
          <a:bodyPr>
            <a:normAutofit/>
          </a:bodyPr>
          <a:lstStyle/>
          <a:p>
            <a:r>
              <a:rPr sz="1800" dirty="0"/>
              <a:t>Domain gap between synthetic and real data.</a:t>
            </a:r>
          </a:p>
          <a:p>
            <a:r>
              <a:rPr sz="1800" dirty="0"/>
              <a:t>Requires optimization of visual parameters (</a:t>
            </a:r>
            <a:r>
              <a:rPr lang="en-US" sz="1800" dirty="0"/>
              <a:t>L</a:t>
            </a:r>
            <a:r>
              <a:rPr sz="1800" dirty="0"/>
              <a:t>ighting, </a:t>
            </a:r>
            <a:r>
              <a:rPr lang="en-US" sz="1800" dirty="0"/>
              <a:t>T</a:t>
            </a:r>
            <a:r>
              <a:rPr sz="1800" dirty="0"/>
              <a:t>exture, </a:t>
            </a:r>
            <a:r>
              <a:rPr lang="en-US" sz="1800" dirty="0"/>
              <a:t>O</a:t>
            </a:r>
            <a:r>
              <a:rPr sz="1800" dirty="0"/>
              <a:t>cclusion</a:t>
            </a:r>
            <a:r>
              <a:rPr lang="en-US" sz="1800" dirty="0"/>
              <a:t>, Background</a:t>
            </a:r>
            <a:r>
              <a:rPr sz="1800" dirty="0"/>
              <a:t>).</a:t>
            </a:r>
          </a:p>
          <a:p>
            <a:r>
              <a:rPr sz="1800" dirty="0"/>
              <a:t>High precision in CAD design is needed for realism.</a:t>
            </a:r>
            <a:r>
              <a:rPr lang="en-US" sz="1800" dirty="0"/>
              <a:t> (Texture, Color, Material,..)</a:t>
            </a:r>
            <a:endParaRPr sz="1800" dirty="0"/>
          </a:p>
          <a:p>
            <a:r>
              <a:rPr sz="1800" dirty="0"/>
              <a:t>Goal: close the gap while reducing manual effort.</a:t>
            </a:r>
          </a:p>
        </p:txBody>
      </p:sp>
      <p:pic>
        <p:nvPicPr>
          <p:cNvPr id="2050" name="Picture 2" descr="A diagram of a car model&#10;&#10;Description automatically generated with medium confidence">
            <a:extLst>
              <a:ext uri="{FF2B5EF4-FFF2-40B4-BE49-F238E27FC236}">
                <a16:creationId xmlns:a16="http://schemas.microsoft.com/office/drawing/2014/main" id="{27A03940-F924-B065-2330-FE1D789EE72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42045" y="3621881"/>
            <a:ext cx="5659910" cy="22629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Research Questions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sz="1800" dirty="0"/>
              <a:t>1. Which synthetic data </a:t>
            </a:r>
            <a:r>
              <a:rPr sz="1800" b="1" dirty="0"/>
              <a:t>parameters</a:t>
            </a:r>
            <a:r>
              <a:rPr sz="1800" dirty="0"/>
              <a:t> matter most for </a:t>
            </a:r>
            <a:r>
              <a:rPr sz="1800" b="1" dirty="0"/>
              <a:t>domain-specific tasks</a:t>
            </a:r>
            <a:r>
              <a:rPr sz="1800" dirty="0"/>
              <a:t>?</a:t>
            </a:r>
            <a:endParaRPr lang="en-US" sz="1800" dirty="0"/>
          </a:p>
          <a:p>
            <a:pPr marL="0" indent="0">
              <a:buNone/>
            </a:pPr>
            <a:r>
              <a:rPr lang="en-US" sz="1800" dirty="0"/>
              <a:t>4. How to </a:t>
            </a:r>
            <a:r>
              <a:rPr lang="en-US" sz="1800" b="1" dirty="0"/>
              <a:t>model</a:t>
            </a:r>
            <a:r>
              <a:rPr lang="en-US" sz="1800" dirty="0"/>
              <a:t> the hyperparameters in the specific domain for dynamic environment?</a:t>
            </a:r>
            <a:endParaRPr sz="1800" dirty="0"/>
          </a:p>
          <a:p>
            <a:pPr marL="0" indent="0">
              <a:buNone/>
            </a:pPr>
            <a:r>
              <a:rPr sz="1800" dirty="0"/>
              <a:t>2. How to </a:t>
            </a:r>
            <a:r>
              <a:rPr sz="1800" b="1" dirty="0"/>
              <a:t>optimize</a:t>
            </a:r>
            <a:r>
              <a:rPr sz="1800" dirty="0"/>
              <a:t> OD models trained on synthetic data with limited real data?</a:t>
            </a:r>
          </a:p>
          <a:p>
            <a:pPr marL="0" indent="0">
              <a:buNone/>
            </a:pPr>
            <a:r>
              <a:rPr sz="1800" dirty="0"/>
              <a:t>3. How to make OD models adaptable to </a:t>
            </a:r>
            <a:r>
              <a:rPr sz="1800" b="1" dirty="0"/>
              <a:t>reconfigurable</a:t>
            </a:r>
            <a:r>
              <a:rPr sz="1800" dirty="0"/>
              <a:t> industrial </a:t>
            </a:r>
            <a:r>
              <a:rPr sz="1800" b="1" dirty="0"/>
              <a:t>domains</a:t>
            </a:r>
            <a:r>
              <a:rPr sz="1800" dirty="0"/>
              <a:t>?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1800" dirty="0"/>
              <a:t>Automated updates through structured industrial metadata (AAS).</a:t>
            </a:r>
          </a:p>
          <a:p>
            <a:r>
              <a:rPr sz="1800" dirty="0"/>
              <a:t>Adaptive optimization of OD</a:t>
            </a:r>
            <a:r>
              <a:rPr lang="en-US" sz="1800" dirty="0"/>
              <a:t> </a:t>
            </a:r>
            <a:r>
              <a:rPr sz="1800" dirty="0"/>
              <a:t>using synthetic data.</a:t>
            </a:r>
          </a:p>
          <a:p>
            <a:r>
              <a:rPr sz="1800" dirty="0"/>
              <a:t>Two-phase training: synthetic pretraining + real fine-tuning.</a:t>
            </a:r>
          </a:p>
          <a:p>
            <a:r>
              <a:rPr sz="1800" dirty="0"/>
              <a:t>Energy</a:t>
            </a:r>
            <a:r>
              <a:rPr lang="en-US" sz="1800" dirty="0"/>
              <a:t>/cost</a:t>
            </a:r>
            <a:r>
              <a:rPr sz="1800" dirty="0"/>
              <a:t>-efficient OD via Active Learning (AL) &amp; Continual Learning (CL)</a:t>
            </a:r>
            <a:r>
              <a:rPr lang="en-US" sz="1800" dirty="0"/>
              <a:t> for dynamic use cases</a:t>
            </a:r>
            <a:r>
              <a:rPr sz="1800" dirty="0"/>
              <a:t>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Novelty / Contributions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1800" dirty="0"/>
              <a:t>U</a:t>
            </a:r>
            <a:r>
              <a:rPr sz="1800" dirty="0"/>
              <a:t>se of structured industrial data (AAS) for synthetic dataset generation.</a:t>
            </a:r>
          </a:p>
          <a:p>
            <a:pPr lvl="1"/>
            <a:r>
              <a:rPr lang="en-US" sz="1400" dirty="0"/>
              <a:t>Model the SDG hyperparameters.(Light complexity, texture, domain specific parameters like distance and camera positions.)</a:t>
            </a:r>
          </a:p>
          <a:p>
            <a:pPr lvl="1"/>
            <a:r>
              <a:rPr lang="en-US" sz="1400" dirty="0"/>
              <a:t>Versioning of the OD for specific domain.</a:t>
            </a:r>
          </a:p>
          <a:p>
            <a:r>
              <a:rPr sz="1800" dirty="0"/>
              <a:t>Integration of AL and CL for adaptive, elastic OD frameworks.</a:t>
            </a:r>
            <a:endParaRPr lang="en-US" sz="1800" dirty="0"/>
          </a:p>
          <a:p>
            <a:r>
              <a:rPr lang="en-US" sz="1800" dirty="0"/>
              <a:t>Updating the OD model for dynamic domain and Production planning.</a:t>
            </a:r>
            <a:endParaRPr sz="1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Methodology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1800" dirty="0"/>
              <a:t>Model the hyperparameters relevant for domain specific use cases.</a:t>
            </a:r>
          </a:p>
          <a:p>
            <a:r>
              <a:rPr sz="1800" dirty="0"/>
              <a:t>Combine structured metadat</a:t>
            </a:r>
            <a:r>
              <a:rPr lang="en-US" sz="1800" dirty="0"/>
              <a:t>a</a:t>
            </a:r>
            <a:r>
              <a:rPr sz="1800" dirty="0"/>
              <a:t> with virtual environments for dataset generation.</a:t>
            </a:r>
          </a:p>
          <a:p>
            <a:r>
              <a:rPr sz="1800" dirty="0"/>
              <a:t>Employ AL to select informative real samples for fine-tuning.</a:t>
            </a:r>
          </a:p>
          <a:p>
            <a:r>
              <a:rPr sz="1800" dirty="0"/>
              <a:t>Integrate CL for continuous model updates and adaptation.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6D6441-1634-5CAE-9396-A38A2F3AF6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aphic 6">
            <a:extLst>
              <a:ext uri="{FF2B5EF4-FFF2-40B4-BE49-F238E27FC236}">
                <a16:creationId xmlns:a16="http://schemas.microsoft.com/office/drawing/2014/main" id="{EC72FCE8-C96E-8B7F-F892-573A70851F0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92125" y="116477"/>
            <a:ext cx="8159750" cy="66608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68010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Use Case: SmartFactory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1800" dirty="0"/>
              <a:t>OD in one of the islands, or specific scenario.</a:t>
            </a:r>
          </a:p>
          <a:p>
            <a:pPr lvl="1"/>
            <a:r>
              <a:rPr lang="en-US" sz="1400" dirty="0"/>
              <a:t>Hand Arbeit Platz.</a:t>
            </a:r>
          </a:p>
          <a:p>
            <a:pPr lvl="1"/>
            <a:r>
              <a:rPr lang="en-US" sz="1400" dirty="0"/>
              <a:t>CA Module.</a:t>
            </a:r>
          </a:p>
          <a:p>
            <a:pPr lvl="1"/>
            <a:r>
              <a:rPr lang="en-US" sz="1400" dirty="0"/>
              <a:t>T4T use case.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Expected Outcomes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sz="1800" dirty="0"/>
              <a:t>Automated synthetic dataset generation with AAS integration.</a:t>
            </a:r>
          </a:p>
          <a:p>
            <a:r>
              <a:rPr sz="1800" dirty="0"/>
              <a:t>Domain randomization driven by structured metadata.</a:t>
            </a:r>
          </a:p>
          <a:p>
            <a:r>
              <a:rPr sz="1800" dirty="0"/>
              <a:t>Sustainable and standardized OD workflows.</a:t>
            </a:r>
          </a:p>
          <a:p>
            <a:r>
              <a:rPr sz="1800" dirty="0"/>
              <a:t>Low CO₂ emissions and reduced human labeling effort</a:t>
            </a:r>
            <a:r>
              <a:rPr lang="en-US" sz="1800" dirty="0"/>
              <a:t> through AL and CL</a:t>
            </a:r>
            <a:r>
              <a:rPr sz="1800" dirty="0"/>
              <a:t>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37EE33-F721-5F75-412B-85794483F7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289AEC-7732-FC9F-6C45-50EF97957B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Timeline</a:t>
            </a:r>
            <a:endParaRPr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A8DA5C45-681D-6A50-CFD3-CF1A3E856BA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93700" y="2065004"/>
            <a:ext cx="8229600" cy="1615155"/>
          </a:xfrm>
        </p:spPr>
      </p:pic>
    </p:spTree>
    <p:extLst>
      <p:ext uri="{BB962C8B-B14F-4D97-AF65-F5344CB8AC3E}">
        <p14:creationId xmlns:p14="http://schemas.microsoft.com/office/powerpoint/2010/main" val="3467233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132</TotalTime>
  <Words>454</Words>
  <Application>Microsoft Office PowerPoint</Application>
  <PresentationFormat>On-screen Show (4:3)</PresentationFormat>
  <Paragraphs>52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Aptos</vt:lpstr>
      <vt:lpstr>Arial</vt:lpstr>
      <vt:lpstr>Calibri</vt:lpstr>
      <vt:lpstr>Office Theme</vt:lpstr>
      <vt:lpstr>A Sustainable and Flexible Pipeline for Industrial Object Detection via Active Learning and AAS-Integrated synthetic data generation Hyperparameters</vt:lpstr>
      <vt:lpstr>Motivation / Background</vt:lpstr>
      <vt:lpstr>Challenges: Real Dataset Acquisition</vt:lpstr>
      <vt:lpstr>Challenges: Synthetic Datasets</vt:lpstr>
      <vt:lpstr>Research Questions</vt:lpstr>
      <vt:lpstr>Objectives</vt:lpstr>
      <vt:lpstr>Novelty / Contributions</vt:lpstr>
      <vt:lpstr>Methodology Overview</vt:lpstr>
      <vt:lpstr>PowerPoint Presentation</vt:lpstr>
      <vt:lpstr>Use Case: SmartFactory</vt:lpstr>
      <vt:lpstr>Expected Outcomes</vt:lpstr>
      <vt:lpstr>Timeline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Hooman Tavakoli Ghinani</dc:creator>
  <cp:keywords/>
  <dc:description>generated using python-pptx</dc:description>
  <cp:lastModifiedBy>Hooman Tavakoli Ghinani</cp:lastModifiedBy>
  <cp:revision>11</cp:revision>
  <dcterms:created xsi:type="dcterms:W3CDTF">2013-01-27T09:14:16Z</dcterms:created>
  <dcterms:modified xsi:type="dcterms:W3CDTF">2025-10-07T15:52:03Z</dcterms:modified>
  <cp:category/>
</cp:coreProperties>
</file>